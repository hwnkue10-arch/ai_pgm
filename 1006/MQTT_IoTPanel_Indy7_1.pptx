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4" r:id="rId10"/>
    <p:sldId id="275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41732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19304E"/>
                </a:solidFill>
              </a:defRPr>
            </a:pPr>
            <a:r>
              <a:t>Mosquitto MQTT + IoTPanel + Indy7</a:t>
            </a:r>
            <a:br/>
            <a:r>
              <a:t>Wi‑Fi 통신 구성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200400"/>
            <a:ext cx="9966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2B6CB0"/>
                </a:solidFill>
              </a:defRPr>
            </a:pPr>
            <a:r>
              <a:t>Windows PowerShell에서 Broker 실행 → Pub/Sub 테스트 → Python/IndyDCP3 연결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9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0" y="661111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304E"/>
                </a:solidFill>
              </a:defRPr>
            </a:pPr>
            <a:r>
              <a:t>1. 실습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E1E1E"/>
                </a:solidFill>
              </a:defRPr>
            </a:pPr>
            <a:r>
              <a:t>컴퓨터 1을 Mosquitto MQTT Broker로 구성한다.</a:t>
            </a:r>
          </a:p>
          <a:p>
            <a:pPr>
              <a:spcAft>
                <a:spcPts val="1000"/>
              </a:spcAft>
              <a:defRPr sz="1900">
                <a:solidFill>
                  <a:srgbClr val="1E1E1E"/>
                </a:solidFill>
              </a:defRPr>
            </a:pPr>
            <a:r>
              <a:t>컴퓨터 2를 Python + paho-mqtt + IndyDCP3 기반의 로봇 제어 Client로 구성한다.</a:t>
            </a:r>
          </a:p>
          <a:p>
            <a:pPr>
              <a:spcAft>
                <a:spcPts val="1000"/>
              </a:spcAft>
              <a:defRPr sz="1900">
                <a:solidFill>
                  <a:srgbClr val="1E1E1E"/>
                </a:solidFill>
              </a:defRPr>
            </a:pPr>
            <a:r>
              <a:t>IoTPanel 앱에서 HOME, POS1, POS2, VACUUM ON/OFF 명령을 MQTT로 전송한다.</a:t>
            </a:r>
          </a:p>
          <a:p>
            <a:pPr>
              <a:spcAft>
                <a:spcPts val="1000"/>
              </a:spcAft>
              <a:defRPr sz="1900">
                <a:solidFill>
                  <a:srgbClr val="1E1E1E"/>
                </a:solidFill>
              </a:defRPr>
            </a:pPr>
            <a:r>
              <a:t>로봇 PC가 명령을 수신하여 Indy7을 제어하고, 완료 상태를 MQTT로 다시 전송한다.</a:t>
            </a:r>
          </a:p>
          <a:p>
            <a:pPr>
              <a:spcAft>
                <a:spcPts val="1000"/>
              </a:spcAft>
              <a:defRPr sz="1900">
                <a:solidFill>
                  <a:srgbClr val="1E1E1E"/>
                </a:solidFill>
              </a:defRPr>
            </a:pPr>
            <a:r>
              <a:t>처음에는 로봇을 움직이지 않고 Pub/Sub 통신부터 검증한 뒤 단계적으로 확장한다.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9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0" y="661111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304E"/>
                </a:solidFill>
              </a:defRPr>
            </a:pPr>
            <a:r>
              <a:t>2. 전체 시스템 구성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2377440" cy="1828800"/>
          </a:xfrm>
          <a:prstGeom prst="roundRect">
            <a:avLst/>
          </a:prstGeom>
          <a:solidFill>
            <a:srgbClr val="EFF5FB"/>
          </a:solidFill>
          <a:ln>
            <a:solidFill>
              <a:srgbClr val="2A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A8C5A"/>
                </a:solidFill>
              </a:defRPr>
            </a:pPr>
            <a:r>
              <a:t>IoTPanel</a:t>
            </a:r>
          </a:p>
          <a:p>
            <a:pPr algn="ctr">
              <a:defRPr sz="1400">
                <a:solidFill>
                  <a:srgbClr val="1E1E1E"/>
                </a:solidFill>
              </a:defRPr>
            </a:pPr>
            <a:r>
              <a:t>스마트폰</a:t>
            </a:r>
            <a:br/>
            <a:r>
              <a:t>MQTT Client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1554480"/>
            <a:ext cx="2377440" cy="1828800"/>
          </a:xfrm>
          <a:prstGeom prst="roundRect">
            <a:avLst/>
          </a:prstGeom>
          <a:solidFill>
            <a:srgbClr val="EFF5FB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B6CB0"/>
                </a:solidFill>
              </a:defRPr>
            </a:pPr>
            <a:r>
              <a:t>컴퓨터 1</a:t>
            </a:r>
          </a:p>
          <a:p>
            <a:pPr algn="ctr">
              <a:defRPr sz="1400">
                <a:solidFill>
                  <a:srgbClr val="1E1E1E"/>
                </a:solidFill>
              </a:defRPr>
            </a:pPr>
            <a:r>
              <a:t>Mosquitto Broker</a:t>
            </a:r>
            <a:br/>
            <a:r>
              <a:t>예: 192.168.0.10:1883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2377440" cy="1828800"/>
          </a:xfrm>
          <a:prstGeom prst="roundRect">
            <a:avLst/>
          </a:prstGeom>
          <a:solidFill>
            <a:srgbClr val="EFF5FB"/>
          </a:solidFill>
          <a:ln>
            <a:solidFill>
              <a:srgbClr val="E18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E18432"/>
                </a:solidFill>
              </a:defRPr>
            </a:pPr>
            <a:r>
              <a:t>컴퓨터 2</a:t>
            </a:r>
          </a:p>
          <a:p>
            <a:pPr algn="ctr">
              <a:defRPr sz="1400">
                <a:solidFill>
                  <a:srgbClr val="1E1E1E"/>
                </a:solidFill>
              </a:defRPr>
            </a:pPr>
            <a:r>
              <a:t>Python + paho-mqtt</a:t>
            </a:r>
            <a:br/>
            <a:r>
              <a:t>IndyDCP3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35440" y="1554480"/>
            <a:ext cx="2286000" cy="1828800"/>
          </a:xfrm>
          <a:prstGeom prst="roundRect">
            <a:avLst/>
          </a:prstGeom>
          <a:solidFill>
            <a:srgbClr val="EFF5FB"/>
          </a:solidFill>
          <a:ln>
            <a:solidFill>
              <a:srgbClr val="19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9304E"/>
                </a:solidFill>
              </a:defRPr>
            </a:pPr>
            <a:r>
              <a:t>Indy7</a:t>
            </a:r>
          </a:p>
          <a:p>
            <a:pPr algn="ctr">
              <a:defRPr sz="1400">
                <a:solidFill>
                  <a:srgbClr val="1E1E1E"/>
                </a:solidFill>
              </a:defRPr>
            </a:pPr>
            <a:r>
              <a:t>Ethernet</a:t>
            </a:r>
            <a:br/>
            <a:r>
              <a:t>192.168.3.2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971800" y="2103120"/>
            <a:ext cx="365760" cy="502920"/>
          </a:xfrm>
          <a:prstGeom prst="rightArrow">
            <a:avLst/>
          </a:prstGeom>
          <a:solidFill>
            <a:srgbClr val="646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ight Arrow 7"/>
          <p:cNvSpPr/>
          <p:nvPr/>
        </p:nvSpPr>
        <p:spPr>
          <a:xfrm>
            <a:off x="5806440" y="2103120"/>
            <a:ext cx="365760" cy="502920"/>
          </a:xfrm>
          <a:prstGeom prst="rightArrow">
            <a:avLst/>
          </a:prstGeom>
          <a:solidFill>
            <a:srgbClr val="646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ight Arrow 8"/>
          <p:cNvSpPr/>
          <p:nvPr/>
        </p:nvSpPr>
        <p:spPr>
          <a:xfrm>
            <a:off x="8641080" y="2103120"/>
            <a:ext cx="365760" cy="502920"/>
          </a:xfrm>
          <a:prstGeom prst="rightArrow">
            <a:avLst/>
          </a:prstGeom>
          <a:solidFill>
            <a:srgbClr val="646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4114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</a:defRPr>
            </a:pPr>
            <a:r>
              <a:t>스마트폰 ↔ 컴퓨터 1 ↔ 컴퓨터 2 구간은 같은 Wi‑Fi 네트워크에서 MQTT로 통신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</a:defRPr>
            </a:pPr>
            <a:r>
              <a:t>컴퓨터 2 ↔ Indy7 구간은 별도의 Ethernet 로봇 네트워크 사용 가능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9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789920" y="661111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304E"/>
                </a:solidFill>
              </a:defRPr>
            </a:pPr>
            <a:r>
              <a:t>3. 각 장치의 역할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291840" cy="3291840"/>
          </a:xfrm>
          <a:prstGeom prst="roundRect">
            <a:avLst/>
          </a:prstGeom>
          <a:solidFill>
            <a:srgbClr val="EFF5FB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B6CB0"/>
                </a:solidFill>
              </a:defRPr>
            </a:pPr>
            <a:r>
              <a:t>컴퓨터 1</a:t>
            </a:r>
          </a:p>
          <a:p>
            <a:pPr algn="ctr">
              <a:defRPr sz="1400">
                <a:solidFill>
                  <a:srgbClr val="1E1E1E"/>
                </a:solidFill>
              </a:defRPr>
            </a:pPr>
            <a:r>
              <a:t>Mosquitto 설치</a:t>
            </a:r>
            <a:br/>
            <a:r>
              <a:t>Broker 실행</a:t>
            </a:r>
            <a:br/>
            <a:r>
              <a:t>Topic 중계</a:t>
            </a:r>
            <a:br/>
            <a:r>
              <a:t>TCP 1883 포트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34840" y="1371600"/>
            <a:ext cx="3291840" cy="3291840"/>
          </a:xfrm>
          <a:prstGeom prst="roundRect">
            <a:avLst/>
          </a:prstGeom>
          <a:solidFill>
            <a:srgbClr val="EFF5FB"/>
          </a:solidFill>
          <a:ln>
            <a:solidFill>
              <a:srgbClr val="E18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E18432"/>
                </a:solidFill>
              </a:defRPr>
            </a:pPr>
            <a:r>
              <a:t>컴퓨터 2</a:t>
            </a:r>
          </a:p>
          <a:p>
            <a:pPr algn="ctr">
              <a:defRPr sz="1400">
                <a:solidFill>
                  <a:srgbClr val="1E1E1E"/>
                </a:solidFill>
              </a:defRPr>
            </a:pPr>
            <a:r>
              <a:t>Mosquitto 전체 설치는 필수 아님</a:t>
            </a:r>
            <a:br/>
            <a:r>
              <a:t>Python 설치</a:t>
            </a:r>
            <a:br/>
            <a:r>
              <a:t>paho-mqtt 설치</a:t>
            </a:r>
            <a:br/>
            <a:r>
              <a:t>neuromeka / IndyDCP3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371600"/>
            <a:ext cx="3291840" cy="3291840"/>
          </a:xfrm>
          <a:prstGeom prst="roundRect">
            <a:avLst/>
          </a:prstGeom>
          <a:solidFill>
            <a:srgbClr val="EFF5FB"/>
          </a:solidFill>
          <a:ln>
            <a:solidFill>
              <a:srgbClr val="2A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A8C5A"/>
                </a:solidFill>
              </a:defRPr>
            </a:pPr>
            <a:r>
              <a:t>IoTPanel</a:t>
            </a:r>
          </a:p>
          <a:p>
            <a:pPr algn="ctr">
              <a:defRPr sz="1400">
                <a:solidFill>
                  <a:srgbClr val="1E1E1E"/>
                </a:solidFill>
              </a:defRPr>
            </a:pPr>
            <a:r>
              <a:t>MQTT Client</a:t>
            </a:r>
            <a:br/>
            <a:r>
              <a:t>명령 Publish</a:t>
            </a:r>
            <a:br/>
            <a:r>
              <a:t>상태 Subscribe</a:t>
            </a:r>
            <a:br/>
            <a:r>
              <a:t>버튼/표시 위젯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7492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컴퓨터 2에 Mosquitto를 설치하면 mosquitto_pub/sub 테스트 도구를 사용할 수 있어 초기 점검에는 편리하다.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9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89920" y="661111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304E"/>
                </a:solidFill>
              </a:defRPr>
            </a:pPr>
            <a:r>
              <a:t>4. 컴퓨터 1 — Mosquitto 설치 확인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</a:defRPr>
            </a:pPr>
            <a:r>
              <a:rPr dirty="0" err="1"/>
              <a:t>Windows용</a:t>
            </a:r>
            <a:r>
              <a:rPr dirty="0"/>
              <a:t> </a:t>
            </a:r>
            <a:r>
              <a:rPr dirty="0" err="1"/>
              <a:t>Mosquitto를</a:t>
            </a:r>
            <a:r>
              <a:rPr dirty="0"/>
              <a:t> </a:t>
            </a:r>
            <a:r>
              <a:rPr dirty="0" err="1"/>
              <a:t>설치한다</a:t>
            </a:r>
            <a:r>
              <a:t>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</a:defRPr>
            </a:pPr>
            <a:r>
              <a:rPr dirty="0" err="1"/>
              <a:t>일반적인</a:t>
            </a:r>
            <a:r>
              <a:rPr dirty="0"/>
              <a:t> </a:t>
            </a:r>
            <a:r>
              <a:rPr dirty="0" err="1"/>
              <a:t>설치</a:t>
            </a:r>
            <a:r>
              <a:rPr dirty="0"/>
              <a:t> </a:t>
            </a:r>
            <a:r>
              <a:rPr dirty="0" err="1"/>
              <a:t>폴더</a:t>
            </a:r>
            <a:r>
              <a:rPr dirty="0"/>
              <a:t>: C:\Program Files\</a:t>
            </a:r>
            <a:r>
              <a:rPr dirty="0" err="1"/>
              <a:t>mosquitto</a:t>
            </a:r>
            <a:endParaRPr dirty="0"/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</a:defRPr>
            </a:pPr>
            <a:r>
              <a:rPr dirty="0" err="1"/>
              <a:t>주요</a:t>
            </a:r>
            <a:r>
              <a:rPr dirty="0"/>
              <a:t> </a:t>
            </a:r>
            <a:r>
              <a:rPr dirty="0" err="1"/>
              <a:t>실행</a:t>
            </a:r>
            <a:r>
              <a:rPr dirty="0"/>
              <a:t> </a:t>
            </a:r>
            <a:r>
              <a:rPr dirty="0" err="1"/>
              <a:t>파일</a:t>
            </a:r>
            <a:r>
              <a:rPr dirty="0"/>
              <a:t>: mosquitto.exe(Broker), mosquitto_pub.exe(Publisher), mosquitto_sub.exe(Subscriber)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</a:defRPr>
            </a:pPr>
            <a:r>
              <a:rPr dirty="0" err="1"/>
              <a:t>PowerShell에서</a:t>
            </a:r>
            <a:r>
              <a:rPr dirty="0"/>
              <a:t> </a:t>
            </a:r>
            <a:r>
              <a:rPr dirty="0" err="1"/>
              <a:t>Mosquitto</a:t>
            </a:r>
            <a:r>
              <a:rPr dirty="0"/>
              <a:t> </a:t>
            </a:r>
            <a:r>
              <a:rPr dirty="0" err="1"/>
              <a:t>폴더로</a:t>
            </a:r>
            <a:r>
              <a:rPr dirty="0"/>
              <a:t> </a:t>
            </a:r>
            <a:r>
              <a:rPr dirty="0" err="1"/>
              <a:t>이동한</a:t>
            </a:r>
            <a:r>
              <a:rPr dirty="0"/>
              <a:t> 뒤 </a:t>
            </a:r>
            <a:r>
              <a:rPr dirty="0" err="1"/>
              <a:t>실행</a:t>
            </a:r>
            <a:r>
              <a:rPr dirty="0"/>
              <a:t> </a:t>
            </a:r>
            <a:r>
              <a:rPr dirty="0" err="1"/>
              <a:t>여부를</a:t>
            </a:r>
            <a:r>
              <a:rPr dirty="0"/>
              <a:t> </a:t>
            </a:r>
            <a:r>
              <a:rPr dirty="0" err="1"/>
              <a:t>확인한다</a:t>
            </a:r>
            <a:r>
              <a:rPr dirty="0"/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4297680"/>
            <a:ext cx="10424160" cy="1097280"/>
          </a:xfrm>
          <a:prstGeom prst="roundRect">
            <a:avLst/>
          </a:prstGeom>
          <a:solidFill>
            <a:srgbClr val="F7F9FC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tlCol="0" anchor="ctr"/>
          <a:lstStyle/>
          <a:p>
            <a:pPr algn="ctr">
              <a:defRPr sz="1600">
                <a:solidFill>
                  <a:srgbClr val="1E1E1E"/>
                </a:solidFill>
                <a:latin typeface="Consolas"/>
              </a:defRPr>
            </a:pPr>
            <a:r>
              <a:rPr dirty="0"/>
              <a:t>PS C:\Users\user&gt; cd "C:\Program Files\</a:t>
            </a:r>
            <a:r>
              <a:rPr dirty="0" err="1"/>
              <a:t>mosquitto</a:t>
            </a:r>
            <a:r>
              <a:rPr dirty="0"/>
              <a:t>"</a:t>
            </a:r>
            <a:br>
              <a:rPr dirty="0"/>
            </a:br>
            <a:r>
              <a:rPr dirty="0"/>
              <a:t>PS C:\Program Files\</a:t>
            </a:r>
            <a:r>
              <a:rPr dirty="0" err="1"/>
              <a:t>mosquitto</a:t>
            </a:r>
            <a:r>
              <a:rPr dirty="0"/>
              <a:t>&gt; .\mosquitto.exe -</a:t>
            </a:r>
            <a:r>
              <a:rPr lang="en-US" dirty="0"/>
              <a:t>v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9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61111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304E"/>
                </a:solidFill>
              </a:defRPr>
            </a:pPr>
            <a:r>
              <a:t>5. 실습용 Broker 설정 파일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463040"/>
            <a:ext cx="4663440" cy="1645920"/>
          </a:xfrm>
          <a:prstGeom prst="roundRect">
            <a:avLst/>
          </a:prstGeom>
          <a:solidFill>
            <a:srgbClr val="F7F9FC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tlCol="0" anchor="ctr"/>
          <a:lstStyle/>
          <a:p>
            <a:pPr algn="ctr">
              <a:defRPr sz="2200">
                <a:solidFill>
                  <a:srgbClr val="1E1E1E"/>
                </a:solidFill>
                <a:latin typeface="Consolas"/>
              </a:defRPr>
            </a:pPr>
            <a:r>
              <a:t>listener 1883</a:t>
            </a:r>
            <a:br/>
            <a:r>
              <a:t>allow_anonymous true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0" y="1417320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</a:defRPr>
            </a:pPr>
            <a:r>
              <a:t>`listener 1883` : MQTT Client의 TCP 1883 포트 접속을 받는다.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</a:defRPr>
            </a:pPr>
            <a:r>
              <a:t>`allow_anonymous true` : 실습 단계에서 ID/비밀번호 없이 접속을 허용한다.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</a:defRPr>
            </a:pPr>
            <a:r>
              <a:t>예: C:\mqtt\mqtt_test.conf 로 저장한다.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</a:defRPr>
            </a:pPr>
            <a:r>
              <a:t>실제 운용 환경에서는 사용자 인증과 접근 제어를 적용하는 것이 좋다.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9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61111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304E"/>
                </a:solidFill>
              </a:defRPr>
            </a:pPr>
            <a:r>
              <a:t>6. Broker 실행 명령의 의미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241280" cy="914400"/>
          </a:xfrm>
          <a:prstGeom prst="roundRect">
            <a:avLst/>
          </a:prstGeom>
          <a:solidFill>
            <a:srgbClr val="F7F9FC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tlCol="0" anchor="ctr"/>
          <a:lstStyle/>
          <a:p>
            <a:pPr algn="ctr">
              <a:defRPr sz="2200">
                <a:solidFill>
                  <a:srgbClr val="1E1E1E"/>
                </a:solidFill>
                <a:latin typeface="Consolas"/>
              </a:defRPr>
            </a:pPr>
            <a:r>
              <a:rPr dirty="0"/>
              <a:t>.\mosquitto.exe -c "C:\mqtt\mqtt_test.conf" -v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743200"/>
            <a:ext cx="2468880" cy="1828800"/>
          </a:xfrm>
          <a:prstGeom prst="roundRect">
            <a:avLst/>
          </a:prstGeom>
          <a:solidFill>
            <a:srgbClr val="EFF5FB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B6CB0"/>
                </a:solidFill>
              </a:defRPr>
            </a:pPr>
            <a:r>
              <a:t>.\mosquitto.exe</a:t>
            </a:r>
          </a:p>
          <a:p>
            <a:pPr algn="ctr">
              <a:defRPr sz="1400">
                <a:solidFill>
                  <a:srgbClr val="1E1E1E"/>
                </a:solidFill>
              </a:defRPr>
            </a:pPr>
            <a:r>
              <a:t>현재 폴더의</a:t>
            </a:r>
            <a:br/>
            <a:r>
              <a:t>Mosquitto Broker 실행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2743200"/>
            <a:ext cx="2011680" cy="1828800"/>
          </a:xfrm>
          <a:prstGeom prst="roundRect">
            <a:avLst/>
          </a:prstGeom>
          <a:solidFill>
            <a:srgbClr val="EFF5FB"/>
          </a:solidFill>
          <a:ln>
            <a:solidFill>
              <a:srgbClr val="E18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E18432"/>
                </a:solidFill>
              </a:defRPr>
            </a:pPr>
            <a:r>
              <a:t>-c</a:t>
            </a:r>
          </a:p>
          <a:p>
            <a:pPr algn="ctr">
              <a:defRPr sz="1400">
                <a:solidFill>
                  <a:srgbClr val="1E1E1E"/>
                </a:solidFill>
              </a:defRPr>
            </a:pPr>
            <a:r>
              <a:t>Configuration</a:t>
            </a:r>
            <a:br/>
            <a:r>
              <a:t>설정 파일 사용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0" y="2743200"/>
            <a:ext cx="3017520" cy="1828800"/>
          </a:xfrm>
          <a:prstGeom prst="roundRect">
            <a:avLst/>
          </a:prstGeom>
          <a:solidFill>
            <a:srgbClr val="EFF5FB"/>
          </a:solidFill>
          <a:ln>
            <a:solidFill>
              <a:srgbClr val="2A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A8C5A"/>
                </a:solidFill>
              </a:defRPr>
            </a:pPr>
            <a:r>
              <a:t>mqtt_test.conf</a:t>
            </a:r>
          </a:p>
          <a:p>
            <a:pPr algn="ctr">
              <a:defRPr sz="1400">
                <a:solidFill>
                  <a:srgbClr val="1E1E1E"/>
                </a:solidFill>
              </a:defRPr>
            </a:pPr>
            <a:r>
              <a:t>listener / 인증 등</a:t>
            </a:r>
            <a:br/>
            <a:r>
              <a:t>Broker 설정 읽기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52560" y="2743200"/>
            <a:ext cx="2194560" cy="1828800"/>
          </a:xfrm>
          <a:prstGeom prst="roundRect">
            <a:avLst/>
          </a:prstGeom>
          <a:solidFill>
            <a:srgbClr val="EFF5FB"/>
          </a:solidFill>
          <a:ln>
            <a:solidFill>
              <a:srgbClr val="19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9304E"/>
                </a:solidFill>
              </a:defRPr>
            </a:pPr>
            <a:r>
              <a:t>-v</a:t>
            </a:r>
          </a:p>
          <a:p>
            <a:pPr algn="ctr">
              <a:defRPr sz="1400">
                <a:solidFill>
                  <a:srgbClr val="1E1E1E"/>
                </a:solidFill>
              </a:defRPr>
            </a:pPr>
            <a:r>
              <a:t>Verbose</a:t>
            </a:r>
            <a:br/>
            <a:r>
              <a:t>통신 로그 자세히 표시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9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0" y="661111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304E"/>
                </a:solidFill>
              </a:defRPr>
            </a:pPr>
            <a:r>
              <a:t>7. 한 컴퓨터에서 Pub/Sub 기본 테스트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3291840" cy="1463040"/>
          </a:xfrm>
          <a:prstGeom prst="roundRect">
            <a:avLst/>
          </a:prstGeom>
          <a:solidFill>
            <a:srgbClr val="EFF5FB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B6CB0"/>
                </a:solidFill>
              </a:defRPr>
            </a:pPr>
            <a:r>
              <a:t>PowerShell 1</a:t>
            </a:r>
          </a:p>
          <a:p>
            <a:pPr algn="ctr">
              <a:defRPr sz="1400">
                <a:solidFill>
                  <a:srgbClr val="1E1E1E"/>
                </a:solidFill>
              </a:defRPr>
            </a:pPr>
            <a:r>
              <a:t>Broker</a:t>
            </a:r>
            <a:br/>
            <a:r>
              <a:t>.\mosquitto.exe ... -v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34840" y="1325880"/>
            <a:ext cx="3291840" cy="1463040"/>
          </a:xfrm>
          <a:prstGeom prst="roundRect">
            <a:avLst/>
          </a:prstGeom>
          <a:solidFill>
            <a:srgbClr val="EFF5FB"/>
          </a:solidFill>
          <a:ln>
            <a:solidFill>
              <a:srgbClr val="2A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A8C5A"/>
                </a:solidFill>
              </a:defRPr>
            </a:pPr>
            <a:r>
              <a:t>PowerShell 2</a:t>
            </a:r>
          </a:p>
          <a:p>
            <a:pPr algn="ctr">
              <a:defRPr sz="1400">
                <a:solidFill>
                  <a:srgbClr val="1E1E1E"/>
                </a:solidFill>
              </a:defRPr>
            </a:pPr>
            <a:r>
              <a:t>Subscriber</a:t>
            </a:r>
            <a:br/>
            <a:r>
              <a:t>indy7/command 구독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325880"/>
            <a:ext cx="3291840" cy="1463040"/>
          </a:xfrm>
          <a:prstGeom prst="roundRect">
            <a:avLst/>
          </a:prstGeom>
          <a:solidFill>
            <a:srgbClr val="EFF5FB"/>
          </a:solidFill>
          <a:ln>
            <a:solidFill>
              <a:srgbClr val="E18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E18432"/>
                </a:solidFill>
              </a:defRPr>
            </a:pPr>
            <a:r>
              <a:t>PowerShell 3</a:t>
            </a:r>
          </a:p>
          <a:p>
            <a:pPr algn="ctr">
              <a:defRPr sz="1400">
                <a:solidFill>
                  <a:srgbClr val="1E1E1E"/>
                </a:solidFill>
              </a:defRPr>
            </a:pPr>
            <a:r>
              <a:t>Publisher</a:t>
            </a:r>
            <a:br/>
            <a:r>
              <a:t>HOME 전송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291840"/>
            <a:ext cx="10241280" cy="1828800"/>
          </a:xfrm>
          <a:prstGeom prst="roundRect">
            <a:avLst/>
          </a:prstGeom>
          <a:solidFill>
            <a:srgbClr val="F7F9FC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tlCol="0" anchor="ctr"/>
          <a:lstStyle/>
          <a:p>
            <a:pPr algn="ctr">
              <a:defRPr sz="1700">
                <a:solidFill>
                  <a:srgbClr val="1E1E1E"/>
                </a:solidFill>
                <a:latin typeface="Consolas"/>
              </a:defRPr>
            </a:pPr>
            <a:r>
              <a:t>.\mosquitto_sub.exe -h localhost -t indy7/command -v</a:t>
            </a:r>
            <a:br/>
            <a:br/>
            <a:r>
              <a:t>.\mosquitto_pub.exe -h localhost -t indy7/command -m HOME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486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</a:defRPr>
            </a:pPr>
            <a:r>
              <a:t>Subscriber 창에 `indy7/command HOME`이 출력되면 기본 MQTT 통신 성공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9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0" y="661111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573" y="1585655"/>
            <a:ext cx="7906853" cy="368668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42573" y="914400"/>
            <a:ext cx="2921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실행결과</a:t>
            </a:r>
          </a:p>
        </p:txBody>
      </p:sp>
    </p:spTree>
    <p:extLst>
      <p:ext uri="{BB962C8B-B14F-4D97-AF65-F5344CB8AC3E}">
        <p14:creationId xmlns:p14="http://schemas.microsoft.com/office/powerpoint/2010/main" val="14644008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E11DD42-FBAB-D005-6485-CCED607050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637" y="3240021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netstat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-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ano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|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findstr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:1883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42D0CF-59DC-E98C-DE50-B4190C6D307F}"/>
              </a:ext>
            </a:extLst>
          </p:cNvPr>
          <p:cNvSpPr txBox="1"/>
          <p:nvPr/>
        </p:nvSpPr>
        <p:spPr>
          <a:xfrm>
            <a:off x="489527" y="526473"/>
            <a:ext cx="3676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안될시</a:t>
            </a:r>
            <a:r>
              <a:rPr lang="ko-KR" altLang="en-US" dirty="0"/>
              <a:t> 확인사항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AB38B0D-A38B-D1BC-6072-55CA9596A0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527" y="1389077"/>
            <a:ext cx="221672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listener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1883 </a:t>
            </a:r>
            <a:endParaRPr kumimoji="0" lang="en-US" altLang="ko-K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allow_anonymous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true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BE3C14-23D8-2876-1464-70919618967F}"/>
              </a:ext>
            </a:extLst>
          </p:cNvPr>
          <p:cNvSpPr txBox="1"/>
          <p:nvPr/>
        </p:nvSpPr>
        <p:spPr>
          <a:xfrm>
            <a:off x="572655" y="1016000"/>
            <a:ext cx="2918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Mosquitto</a:t>
            </a:r>
            <a:r>
              <a:rPr lang="en-US" altLang="ko-KR" dirty="0"/>
              <a:t> </a:t>
            </a:r>
            <a:r>
              <a:rPr lang="ko-KR" altLang="en-US" dirty="0"/>
              <a:t>에서 확인</a:t>
            </a:r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9A769BFB-AB51-0680-021F-12484FF1D2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637" y="4289657"/>
            <a:ext cx="168668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net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stop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mosquitto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DC8D97-2293-B0B3-EED9-08E24F53EDD6}"/>
              </a:ext>
            </a:extLst>
          </p:cNvPr>
          <p:cNvSpPr txBox="1"/>
          <p:nvPr/>
        </p:nvSpPr>
        <p:spPr>
          <a:xfrm>
            <a:off x="415637" y="3963002"/>
            <a:ext cx="3777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모스키토 종료 명령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BB76D8-FDB9-E46C-51BE-4593AED44EA8}"/>
              </a:ext>
            </a:extLst>
          </p:cNvPr>
          <p:cNvSpPr txBox="1"/>
          <p:nvPr/>
        </p:nvSpPr>
        <p:spPr>
          <a:xfrm>
            <a:off x="572655" y="1939636"/>
            <a:ext cx="72690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모스키토 실행</a:t>
            </a:r>
            <a:endParaRPr lang="en-US" altLang="ko-KR" dirty="0"/>
          </a:p>
          <a:p>
            <a:r>
              <a:rPr lang="en-US" altLang="ko-KR" dirty="0"/>
              <a:t>C:\Program Files\</a:t>
            </a:r>
            <a:r>
              <a:rPr lang="en-US" altLang="ko-KR" dirty="0" err="1"/>
              <a:t>mosquitto</a:t>
            </a:r>
            <a:r>
              <a:rPr lang="en-US" altLang="ko-KR" dirty="0"/>
              <a:t>&gt;mosquitto.exe -c </a:t>
            </a:r>
            <a:r>
              <a:rPr lang="en-US" altLang="ko-KR" dirty="0" err="1"/>
              <a:t>mosquitto.conf</a:t>
            </a:r>
            <a:r>
              <a:rPr lang="en-US" altLang="ko-KR" dirty="0"/>
              <a:t> -v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080278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304E"/>
                </a:solidFill>
              </a:defRPr>
            </a:pPr>
            <a:r>
              <a:t>8. Publisher / Broker / Subscriber 이해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926080" cy="2011680"/>
          </a:xfrm>
          <a:prstGeom prst="roundRect">
            <a:avLst/>
          </a:prstGeom>
          <a:solidFill>
            <a:srgbClr val="EFF5FB"/>
          </a:solidFill>
          <a:ln>
            <a:solidFill>
              <a:srgbClr val="E18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E18432"/>
                </a:solidFill>
              </a:defRPr>
            </a:pPr>
            <a:r>
              <a:t>Publisher</a:t>
            </a:r>
          </a:p>
          <a:p>
            <a:pPr algn="ctr">
              <a:defRPr sz="1400">
                <a:solidFill>
                  <a:srgbClr val="1E1E1E"/>
                </a:solidFill>
              </a:defRPr>
            </a:pPr>
            <a:r>
              <a:t>메시지를 보냄</a:t>
            </a:r>
            <a:br/>
            <a:r>
              <a:t>Topic: indy7/command</a:t>
            </a:r>
            <a:br/>
            <a:r>
              <a:t>Message: HOME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17720" y="1645920"/>
            <a:ext cx="2926080" cy="2011680"/>
          </a:xfrm>
          <a:prstGeom prst="roundRect">
            <a:avLst/>
          </a:prstGeom>
          <a:solidFill>
            <a:srgbClr val="EFF5FB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B6CB0"/>
                </a:solidFill>
              </a:defRPr>
            </a:pPr>
            <a:r>
              <a:t>Broker</a:t>
            </a:r>
          </a:p>
          <a:p>
            <a:pPr algn="ctr">
              <a:defRPr sz="1400">
                <a:solidFill>
                  <a:srgbClr val="1E1E1E"/>
                </a:solidFill>
              </a:defRPr>
            </a:pPr>
            <a:r>
              <a:t>메시지를 받아</a:t>
            </a:r>
            <a:br/>
            <a:r>
              <a:t>해당 Topic 구독자에게</a:t>
            </a:r>
            <a:br/>
            <a:r>
              <a:t>중계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03920" y="1645920"/>
            <a:ext cx="2926080" cy="2011680"/>
          </a:xfrm>
          <a:prstGeom prst="roundRect">
            <a:avLst/>
          </a:prstGeom>
          <a:solidFill>
            <a:srgbClr val="EFF5FB"/>
          </a:solidFill>
          <a:ln>
            <a:solidFill>
              <a:srgbClr val="2A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A8C5A"/>
                </a:solidFill>
              </a:defRPr>
            </a:pPr>
            <a:r>
              <a:rPr dirty="0"/>
              <a:t>Subscriber</a:t>
            </a:r>
          </a:p>
          <a:p>
            <a:pPr algn="ctr">
              <a:defRPr sz="1400">
                <a:solidFill>
                  <a:srgbClr val="1E1E1E"/>
                </a:solidFill>
              </a:defRPr>
            </a:pPr>
            <a:r>
              <a:rPr dirty="0" err="1"/>
              <a:t>Topic을</a:t>
            </a:r>
            <a:r>
              <a:rPr dirty="0"/>
              <a:t> </a:t>
            </a:r>
            <a:r>
              <a:rPr dirty="0" err="1"/>
              <a:t>구독하고</a:t>
            </a:r>
            <a:br>
              <a:rPr dirty="0"/>
            </a:br>
            <a:r>
              <a:rPr dirty="0"/>
              <a:t>HOME </a:t>
            </a:r>
            <a:r>
              <a:rPr dirty="0" err="1"/>
              <a:t>메시지를</a:t>
            </a:r>
            <a:r>
              <a:rPr dirty="0"/>
              <a:t> </a:t>
            </a:r>
            <a:r>
              <a:rPr dirty="0" err="1"/>
              <a:t>수신</a:t>
            </a:r>
            <a:endParaRPr dirty="0"/>
          </a:p>
        </p:txBody>
      </p:sp>
      <p:sp>
        <p:nvSpPr>
          <p:cNvPr id="6" name="Right Arrow 5"/>
          <p:cNvSpPr/>
          <p:nvPr/>
        </p:nvSpPr>
        <p:spPr>
          <a:xfrm>
            <a:off x="3794760" y="2331720"/>
            <a:ext cx="640080" cy="502920"/>
          </a:xfrm>
          <a:prstGeom prst="rightArrow">
            <a:avLst/>
          </a:prstGeom>
          <a:solidFill>
            <a:srgbClr val="646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ight Arrow 6"/>
          <p:cNvSpPr/>
          <p:nvPr/>
        </p:nvSpPr>
        <p:spPr>
          <a:xfrm>
            <a:off x="7680960" y="2331720"/>
            <a:ext cx="640080" cy="502920"/>
          </a:xfrm>
          <a:prstGeom prst="rightArrow">
            <a:avLst/>
          </a:prstGeom>
          <a:solidFill>
            <a:srgbClr val="646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466344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</a:defRPr>
            </a:pPr>
            <a:r>
              <a:t>MQTT에서는 Publisher와 Subscriber가 서로 직접 연결되는 것이 아니라 Broker를 중심으로 통신한다.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9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789920" y="661111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304E"/>
                </a:solidFill>
              </a:defRPr>
            </a:pPr>
            <a:r>
              <a:t>9. 두 컴퓨터를 Wi‑Fi로 연결하기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2743200" cy="731520"/>
          </a:xfrm>
          <a:prstGeom prst="roundRect">
            <a:avLst/>
          </a:prstGeom>
          <a:solidFill>
            <a:srgbClr val="F7F9FC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tlCol="0" anchor="ctr"/>
          <a:lstStyle/>
          <a:p>
            <a:pPr algn="ctr">
              <a:defRPr sz="2000">
                <a:solidFill>
                  <a:srgbClr val="1E1E1E"/>
                </a:solidFill>
                <a:latin typeface="Consolas"/>
              </a:defRPr>
            </a:pPr>
            <a:r>
              <a:t>PS&gt; ipconfig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789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</a:defRPr>
            </a:pPr>
            <a:r>
              <a:t>컴퓨터 1에서 `ipconfig`로 Wi‑Fi IPv4 주소를 확인한다. 예: 192.168.0.10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</a:defRPr>
            </a:pPr>
            <a:r>
              <a:t>컴퓨터 2도 같은 Wi‑Fi 공유기에 연결한다. 예: 192.168.0.20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</a:defRPr>
            </a:pPr>
            <a:r>
              <a:t>컴퓨터 2에서 Broker 주소로 컴퓨터 1의 IP를 사용한다.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</a:defRPr>
            </a:pPr>
            <a:r>
              <a:t>연결 확인: ping 192.168.0.10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</a:defRPr>
            </a:pPr>
            <a:r>
              <a:t>포트 확인: Test-NetConnection 192.168.0.10 -Port 1883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9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61111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304E"/>
                </a:solidFill>
              </a:defRPr>
            </a:pPr>
            <a:r>
              <a:t>10. 컴퓨터 1 ↔ 컴퓨터 2 Pub/Sub 테스트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10698480" cy="2468880"/>
          </a:xfrm>
          <a:prstGeom prst="roundRect">
            <a:avLst/>
          </a:prstGeom>
          <a:solidFill>
            <a:srgbClr val="F7F9FC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tlCol="0" anchor="ctr"/>
          <a:lstStyle/>
          <a:p>
            <a:pPr algn="ctr">
              <a:defRPr sz="1600">
                <a:solidFill>
                  <a:srgbClr val="1E1E1E"/>
                </a:solidFill>
                <a:latin typeface="Consolas"/>
              </a:defRPr>
            </a:pPr>
            <a:r>
              <a:t># 컴퓨터 2: 명령 수신</a:t>
            </a:r>
            <a:br/>
            <a:r>
              <a:t>.\mosquitto_sub.exe -h 192.168.0.10 -p 1883 -t indy7/command -v</a:t>
            </a:r>
            <a:br/>
            <a:br/>
            <a:r>
              <a:t># 컴퓨터 1: HOME 명령 송신</a:t>
            </a:r>
            <a:br/>
            <a:r>
              <a:t>.\mosquitto_pub.exe -h 192.168.0.10 -p 1883 -t indy7/command -m HOME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976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</a:defRPr>
            </a:pPr>
            <a:r>
              <a:t>컴퓨터 2에 `indy7/command HOME`이 표시되면 Wi‑Fi MQTT 통신 성공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</a:defRPr>
            </a:pPr>
            <a:r>
              <a:t>접속 실패 시 Broker 실행 여부, IP 주소, 1883 포트, Windows 방화벽을 확인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9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61111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304E"/>
                </a:solidFill>
              </a:defRPr>
            </a:pPr>
            <a:r>
              <a:t>11. Indy7 제어용 MQTT Topic 설계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463040"/>
            <a:ext cx="4663440" cy="1920240"/>
          </a:xfrm>
          <a:prstGeom prst="roundRect">
            <a:avLst/>
          </a:prstGeom>
          <a:solidFill>
            <a:srgbClr val="EFF5FB"/>
          </a:solidFill>
          <a:ln>
            <a:solidFill>
              <a:srgbClr val="E18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E18432"/>
                </a:solidFill>
              </a:defRPr>
            </a:pPr>
            <a:r>
              <a:t>indy7/command</a:t>
            </a:r>
          </a:p>
          <a:p>
            <a:pPr algn="ctr">
              <a:defRPr sz="1400">
                <a:solidFill>
                  <a:srgbClr val="1E1E1E"/>
                </a:solidFill>
              </a:defRPr>
            </a:pPr>
            <a:r>
              <a:t>IoTPanel → Robot PC</a:t>
            </a:r>
            <a:br/>
            <a:r>
              <a:t>HOME / POS1 / POS2</a:t>
            </a:r>
            <a:br/>
            <a:r>
              <a:t>VACUUM_ON / VACUUM_OFF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0" y="1463040"/>
            <a:ext cx="4663440" cy="1920240"/>
          </a:xfrm>
          <a:prstGeom prst="roundRect">
            <a:avLst/>
          </a:prstGeom>
          <a:solidFill>
            <a:srgbClr val="EFF5FB"/>
          </a:solidFill>
          <a:ln>
            <a:solidFill>
              <a:srgbClr val="2A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A8C5A"/>
                </a:solidFill>
              </a:defRPr>
            </a:pPr>
            <a:r>
              <a:t>indy7/status</a:t>
            </a:r>
          </a:p>
          <a:p>
            <a:pPr algn="ctr">
              <a:defRPr sz="1400">
                <a:solidFill>
                  <a:srgbClr val="1E1E1E"/>
                </a:solidFill>
              </a:defRPr>
            </a:pPr>
            <a:r>
              <a:t>Robot PC → IoTPanel</a:t>
            </a:r>
            <a:br/>
            <a:r>
              <a:t>ROBOT_READY / HOME_MOVING</a:t>
            </a:r>
            <a:br/>
            <a:r>
              <a:t>HOME_DONE / ROBOT_ERROR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241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</a:defRPr>
            </a:pPr>
            <a:r>
              <a:t>명령 Topic과 상태 Topic을 분리하면 흐름이 명확하고 디버깅이 쉽다.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</a:defRPr>
            </a:pPr>
            <a:r>
              <a:t>초기에는 문자열 명령으로 시작하고, 필요하면 나중에 JSON 형식으로 확장할 수 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9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61111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304E"/>
                </a:solidFill>
              </a:defRPr>
            </a:pPr>
            <a:r>
              <a:t>12. 컴퓨터 2 — Python MQTT Client 준비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280160"/>
            <a:ext cx="3931920" cy="731520"/>
          </a:xfrm>
          <a:prstGeom prst="roundRect">
            <a:avLst/>
          </a:prstGeom>
          <a:solidFill>
            <a:srgbClr val="F7F9FC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tlCol="0" anchor="ctr"/>
          <a:lstStyle/>
          <a:p>
            <a:pPr algn="ctr">
              <a:defRPr sz="2000">
                <a:solidFill>
                  <a:srgbClr val="1E1E1E"/>
                </a:solidFill>
                <a:latin typeface="Consolas"/>
              </a:defRPr>
            </a:pPr>
            <a:r>
              <a:t>pip install paho-mqtt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468880"/>
            <a:ext cx="6583680" cy="2560320"/>
          </a:xfrm>
          <a:prstGeom prst="roundRect">
            <a:avLst/>
          </a:prstGeom>
          <a:solidFill>
            <a:srgbClr val="F7F9FC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tlCol="0" anchor="ctr"/>
          <a:lstStyle/>
          <a:p>
            <a:pPr algn="ctr">
              <a:defRPr sz="1600">
                <a:solidFill>
                  <a:srgbClr val="1E1E1E"/>
                </a:solidFill>
                <a:latin typeface="Consolas"/>
              </a:defRPr>
            </a:pPr>
            <a:r>
              <a:t>import paho.mqtt.client as mqtt</a:t>
            </a:r>
            <a:br/>
            <a:r>
              <a:t>from neuromeka import IndyDCP3</a:t>
            </a:r>
            <a:br/>
            <a:br/>
            <a:r>
              <a:t>BROKER_IP = "192.168.0.10"</a:t>
            </a:r>
            <a:br/>
            <a:r>
              <a:t>ROBOT_IP  = "192.168.3.2"</a:t>
            </a:r>
            <a:br/>
            <a:br/>
            <a:r>
              <a:t>indy = IndyDCP3(ROBOT_IP)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2468880"/>
            <a:ext cx="34747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컴퓨터 2는 Wi‑Fi로 Broker에 접속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Ethernet으로 Indy7에 접속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따라서 컴퓨터 2가 MQTT와 로봇 제어를 연결하는 Gateway 역할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9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61111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304E"/>
                </a:solidFill>
              </a:defRPr>
            </a:pPr>
            <a:r>
              <a:t>13. HOME 명령의 실제 데이터 흐름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1828800"/>
            <a:ext cx="2057400" cy="1828800"/>
          </a:xfrm>
          <a:prstGeom prst="roundRect">
            <a:avLst/>
          </a:prstGeom>
          <a:solidFill>
            <a:srgbClr val="EFF5FB"/>
          </a:solidFill>
          <a:ln>
            <a:solidFill>
              <a:srgbClr val="2A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A8C5A"/>
                </a:solidFill>
              </a:defRPr>
            </a:pPr>
            <a:r>
              <a:t>① IoTPanel</a:t>
            </a:r>
          </a:p>
          <a:p>
            <a:pPr algn="ctr">
              <a:defRPr sz="1400">
                <a:solidFill>
                  <a:srgbClr val="1E1E1E"/>
                </a:solidFill>
              </a:defRPr>
            </a:pPr>
            <a:r>
              <a:t>Publish</a:t>
            </a:r>
            <a:br/>
            <a:r>
              <a:t>indy7/command = HOME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423160" y="2487168"/>
            <a:ext cx="256032" cy="411480"/>
          </a:xfrm>
          <a:prstGeom prst="rightArrow">
            <a:avLst/>
          </a:prstGeom>
          <a:solidFill>
            <a:srgbClr val="646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679192" y="1828800"/>
            <a:ext cx="2057400" cy="1828800"/>
          </a:xfrm>
          <a:prstGeom prst="roundRect">
            <a:avLst/>
          </a:prstGeom>
          <a:solidFill>
            <a:srgbClr val="EFF5FB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B6CB0"/>
                </a:solidFill>
              </a:defRPr>
            </a:pPr>
            <a:r>
              <a:t>② Broker</a:t>
            </a:r>
          </a:p>
          <a:p>
            <a:pPr algn="ctr">
              <a:defRPr sz="1400">
                <a:solidFill>
                  <a:srgbClr val="1E1E1E"/>
                </a:solidFill>
              </a:defRPr>
            </a:pPr>
            <a:r>
              <a:t>Mosquitto가</a:t>
            </a:r>
            <a:br/>
            <a:r>
              <a:t>HOME 중계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782312" y="2487168"/>
            <a:ext cx="256032" cy="411480"/>
          </a:xfrm>
          <a:prstGeom prst="rightArrow">
            <a:avLst/>
          </a:prstGeom>
          <a:solidFill>
            <a:srgbClr val="646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38344" y="1828800"/>
            <a:ext cx="2057400" cy="1828800"/>
          </a:xfrm>
          <a:prstGeom prst="roundRect">
            <a:avLst/>
          </a:prstGeom>
          <a:solidFill>
            <a:srgbClr val="EFF5FB"/>
          </a:solidFill>
          <a:ln>
            <a:solidFill>
              <a:srgbClr val="E18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E18432"/>
                </a:solidFill>
              </a:defRPr>
            </a:pPr>
            <a:r>
              <a:t>③ PC2 Python</a:t>
            </a:r>
          </a:p>
          <a:p>
            <a:pPr algn="ctr">
              <a:defRPr sz="1400">
                <a:solidFill>
                  <a:srgbClr val="1E1E1E"/>
                </a:solidFill>
              </a:defRPr>
            </a:pPr>
            <a:r>
              <a:t>on_message()</a:t>
            </a:r>
            <a:br/>
            <a:r>
              <a:t>HOME 수신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141464" y="2487168"/>
            <a:ext cx="256032" cy="411480"/>
          </a:xfrm>
          <a:prstGeom prst="rightArrow">
            <a:avLst/>
          </a:prstGeom>
          <a:solidFill>
            <a:srgbClr val="646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97496" y="1828800"/>
            <a:ext cx="2057400" cy="1828800"/>
          </a:xfrm>
          <a:prstGeom prst="roundRect">
            <a:avLst/>
          </a:prstGeom>
          <a:solidFill>
            <a:srgbClr val="EFF5FB"/>
          </a:solidFill>
          <a:ln>
            <a:solidFill>
              <a:srgbClr val="19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9304E"/>
                </a:solidFill>
              </a:defRPr>
            </a:pPr>
            <a:r>
              <a:t>④ IndyDCP3</a:t>
            </a:r>
          </a:p>
          <a:p>
            <a:pPr algn="ctr">
              <a:defRPr sz="1400">
                <a:solidFill>
                  <a:srgbClr val="1E1E1E"/>
                </a:solidFill>
              </a:defRPr>
            </a:pPr>
            <a:r>
              <a:t>indy.move_home()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500616" y="2487168"/>
            <a:ext cx="256032" cy="411480"/>
          </a:xfrm>
          <a:prstGeom prst="rightArrow">
            <a:avLst/>
          </a:prstGeom>
          <a:solidFill>
            <a:srgbClr val="646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756648" y="1828800"/>
            <a:ext cx="2057400" cy="1828800"/>
          </a:xfrm>
          <a:prstGeom prst="roundRect">
            <a:avLst/>
          </a:prstGeom>
          <a:solidFill>
            <a:srgbClr val="EFF5FB"/>
          </a:solidFill>
          <a:ln>
            <a:solidFill>
              <a:srgbClr val="2A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A8C5A"/>
                </a:solidFill>
              </a:defRPr>
            </a:pPr>
            <a:r>
              <a:t>⑤ 상태 회신</a:t>
            </a:r>
          </a:p>
          <a:p>
            <a:pPr algn="ctr">
              <a:defRPr sz="1400">
                <a:solidFill>
                  <a:srgbClr val="1E1E1E"/>
                </a:solidFill>
              </a:defRPr>
            </a:pPr>
            <a:r>
              <a:t>indy7/status</a:t>
            </a:r>
            <a:br/>
            <a:r>
              <a:t>HOME_DONE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6634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</a:defRPr>
            </a:pPr>
            <a:r>
              <a:t>실제 로봇 동작 전에 MQTT 메시지 수신과 상태 회신만 먼저 검증하는 것이 좋다.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9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789920" y="661111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304E"/>
                </a:solidFill>
              </a:defRPr>
            </a:pPr>
            <a:r>
              <a:t>14. IoTPanel 앱 설정 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3383280" cy="3474720"/>
          </a:xfrm>
          <a:prstGeom prst="roundRect">
            <a:avLst/>
          </a:prstGeom>
          <a:solidFill>
            <a:srgbClr val="EFF5FB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B6CB0"/>
                </a:solidFill>
              </a:defRPr>
            </a:pPr>
            <a:r>
              <a:t>Broker 설정</a:t>
            </a:r>
          </a:p>
          <a:p>
            <a:pPr algn="ctr">
              <a:defRPr sz="1400">
                <a:solidFill>
                  <a:srgbClr val="1E1E1E"/>
                </a:solidFill>
              </a:defRPr>
            </a:pPr>
            <a:r>
              <a:t>Host: 192.168.0.10</a:t>
            </a:r>
            <a:br/>
            <a:r>
              <a:t>Port: 1883</a:t>
            </a:r>
            <a:br/>
            <a:r>
              <a:t>같은 Wi‑Fi 사용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25880"/>
            <a:ext cx="3383280" cy="3474720"/>
          </a:xfrm>
          <a:prstGeom prst="roundRect">
            <a:avLst/>
          </a:prstGeom>
          <a:solidFill>
            <a:srgbClr val="EFF5FB"/>
          </a:solidFill>
          <a:ln>
            <a:solidFill>
              <a:srgbClr val="E18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E18432"/>
                </a:solidFill>
              </a:defRPr>
            </a:pPr>
            <a:r>
              <a:t>HOME 버튼</a:t>
            </a:r>
          </a:p>
          <a:p>
            <a:pPr algn="ctr">
              <a:defRPr sz="1400">
                <a:solidFill>
                  <a:srgbClr val="1E1E1E"/>
                </a:solidFill>
              </a:defRPr>
            </a:pPr>
            <a:r>
              <a:t>Publish Topic</a:t>
            </a:r>
            <a:br/>
            <a:r>
              <a:t>indy7/command</a:t>
            </a:r>
            <a:br/>
            <a:br/>
            <a:r>
              <a:t>Message</a:t>
            </a:r>
            <a:br/>
            <a:r>
              <a:t>HOME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325880"/>
            <a:ext cx="3383280" cy="3474720"/>
          </a:xfrm>
          <a:prstGeom prst="roundRect">
            <a:avLst/>
          </a:prstGeom>
          <a:solidFill>
            <a:srgbClr val="EFF5FB"/>
          </a:solidFill>
          <a:ln>
            <a:solidFill>
              <a:srgbClr val="2A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A8C5A"/>
                </a:solidFill>
              </a:defRPr>
            </a:pPr>
            <a:r>
              <a:t>상태 표시</a:t>
            </a:r>
          </a:p>
          <a:p>
            <a:pPr algn="ctr">
              <a:defRPr sz="1400">
                <a:solidFill>
                  <a:srgbClr val="1E1E1E"/>
                </a:solidFill>
              </a:defRPr>
            </a:pPr>
            <a:r>
              <a:t>Subscribe Topic</a:t>
            </a:r>
            <a:br/>
            <a:r>
              <a:t>indy7/status</a:t>
            </a:r>
            <a:br/>
            <a:br/>
            <a:r>
              <a:t>예: HOME_DONE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9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61111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304E"/>
                </a:solidFill>
              </a:defRPr>
            </a:pPr>
            <a:r>
              <a:t>15. 자주 발생하는 문제와 점검 순서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</a:defRPr>
            </a:pPr>
            <a:r>
              <a:t>Broker가 실행되지 않음 → PowerShell에서 mosquitto.exe 실행 경로와 설정 파일 경로 확인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</a:defRPr>
            </a:pPr>
            <a:r>
              <a:t>컴퓨터 2가 접속하지 못함 → 같은 Wi‑Fi인지 확인하고 `ping Broker_IP` 실행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</a:defRPr>
            </a:pPr>
            <a:r>
              <a:t>1883 포트 연결 실패 → `Test-NetConnection Broker_IP -Port 1883` 확인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</a:defRPr>
            </a:pPr>
            <a:r>
              <a:t>로컬은 되는데 원격이 안 됨 → listener 설정과 Windows Defender 방화벽 확인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</a:defRPr>
            </a:pPr>
            <a:r>
              <a:t>MQTT는 되는데 Indy7이 움직이지 않음 → MQTT와 로봇 문제를 분리하여 IndyDCP3 단독 모션부터 확인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</a:defRPr>
            </a:pPr>
            <a:r>
              <a:t>로봇 좌표는 예제값을 그대로 쓰지 말고 실제 장비에서 검증된 안전 좌표를 사용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9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0" y="661111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304E"/>
                </a:solidFill>
              </a:defRPr>
            </a:pPr>
            <a:r>
              <a:t>16. 권장 실습 순서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</a:defRPr>
            </a:pPr>
            <a:r>
              <a:t>1단계: 컴퓨터 1 한 대에서 Broker + pub/sub 테스트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</a:defRPr>
            </a:pPr>
            <a:r>
              <a:t>2단계: 컴퓨터 1 Broker ↔ 컴퓨터 2 Subscriber Wi‑Fi 테스트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</a:defRPr>
            </a:pPr>
            <a:r>
              <a:t>3단계: 컴퓨터 2의 mosquitto_sub 대신 Python paho-mqtt 프로그램으로 교체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</a:defRPr>
            </a:pPr>
            <a:r>
              <a:t>4단계: IoTPanel에서 HOME 문자열 전송 → Python에서 문자열만 출력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</a:defRPr>
            </a:pPr>
            <a:r>
              <a:t>5단계: Python에서 IndyDCP3 연결 후 HOME 명령 실행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</a:defRPr>
            </a:pPr>
            <a:r>
              <a:t>6단계: POS1/POS2, Vacuum ON/OFF 추가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</a:defRPr>
            </a:pPr>
            <a:r>
              <a:t>7단계: indy7/status Topic으로 동작 완료/오류 상태를 IoTPanel에 표시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9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0" y="661111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304E"/>
                </a:solidFill>
              </a:defRPr>
            </a:pPr>
            <a:r>
              <a:t>17. 핵심 정리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291840" cy="3200400"/>
          </a:xfrm>
          <a:prstGeom prst="roundRect">
            <a:avLst/>
          </a:prstGeom>
          <a:solidFill>
            <a:srgbClr val="EFF5FB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B6CB0"/>
                </a:solidFill>
              </a:defRPr>
            </a:pPr>
            <a:r>
              <a:t>컴퓨터 1</a:t>
            </a:r>
          </a:p>
          <a:p>
            <a:pPr algn="ctr">
              <a:defRPr sz="1400">
                <a:solidFill>
                  <a:srgbClr val="1E1E1E"/>
                </a:solidFill>
              </a:defRPr>
            </a:pPr>
            <a:r>
              <a:t>Mosquitto Broker</a:t>
            </a:r>
            <a:br/>
            <a:r>
              <a:t>설치 필요</a:t>
            </a:r>
            <a:br/>
            <a:r>
              <a:t>1883 포트</a:t>
            </a:r>
            <a:br/>
            <a:r>
              <a:t>메시지 중계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34840" y="1371600"/>
            <a:ext cx="3291840" cy="3200400"/>
          </a:xfrm>
          <a:prstGeom prst="roundRect">
            <a:avLst/>
          </a:prstGeom>
          <a:solidFill>
            <a:srgbClr val="EFF5FB"/>
          </a:solidFill>
          <a:ln>
            <a:solidFill>
              <a:srgbClr val="E18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E18432"/>
                </a:solidFill>
              </a:defRPr>
            </a:pPr>
            <a:r>
              <a:t>컴퓨터 2</a:t>
            </a:r>
          </a:p>
          <a:p>
            <a:pPr algn="ctr">
              <a:defRPr sz="1400">
                <a:solidFill>
                  <a:srgbClr val="1E1E1E"/>
                </a:solidFill>
              </a:defRPr>
            </a:pPr>
            <a:r>
              <a:t>Mosquitto 필수 아님</a:t>
            </a:r>
            <a:br/>
            <a:r>
              <a:t>paho-mqtt + IndyDCP3</a:t>
            </a:r>
            <a:br/>
            <a:r>
              <a:t>MQTT ↔ Robot 연결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371600"/>
            <a:ext cx="3291840" cy="3200400"/>
          </a:xfrm>
          <a:prstGeom prst="roundRect">
            <a:avLst/>
          </a:prstGeom>
          <a:solidFill>
            <a:srgbClr val="EFF5FB"/>
          </a:solidFill>
          <a:ln>
            <a:solidFill>
              <a:srgbClr val="2A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A8C5A"/>
                </a:solidFill>
              </a:defRPr>
            </a:pPr>
            <a:r>
              <a:t>IoTPanel</a:t>
            </a:r>
          </a:p>
          <a:p>
            <a:pPr algn="ctr">
              <a:defRPr sz="1400">
                <a:solidFill>
                  <a:srgbClr val="1E1E1E"/>
                </a:solidFill>
              </a:defRPr>
            </a:pPr>
            <a:r>
              <a:t>MQTT Client</a:t>
            </a:r>
            <a:br/>
            <a:r>
              <a:t>명령 Publish</a:t>
            </a:r>
            <a:br/>
            <a:r>
              <a:t>상태 Subscribe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</a:defRPr>
            </a:pPr>
            <a:r>
              <a:t>핵심 구조: IoTPanel → Mosquitto Broker → Python/IndyDCP3 → Indy7 → 상태 MQTT 회신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9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89920" y="661111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1337</Words>
  <Application>Microsoft Office PowerPoint</Application>
  <PresentationFormat>와이드스크린</PresentationFormat>
  <Paragraphs>160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4" baseType="lpstr">
      <vt:lpstr>Arial Unicode MS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user</cp:lastModifiedBy>
  <cp:revision>8</cp:revision>
  <dcterms:created xsi:type="dcterms:W3CDTF">2013-01-27T09:14:16Z</dcterms:created>
  <dcterms:modified xsi:type="dcterms:W3CDTF">2026-10-06T03:02:13Z</dcterms:modified>
  <cp:category/>
</cp:coreProperties>
</file>